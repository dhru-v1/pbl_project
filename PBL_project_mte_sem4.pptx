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oto Serif Bold" charset="1" panose="02020800060500020200"/>
      <p:regular r:id="rId17"/>
    </p:embeddedFont>
    <p:embeddedFont>
      <p:font typeface="Aptos" charset="1" panose="020B0004020202020204"/>
      <p:regular r:id="rId18"/>
    </p:embeddedFont>
    <p:embeddedFont>
      <p:font typeface="Aptos Bold" charset="1" panose="020B0004020202020204"/>
      <p:regular r:id="rId19"/>
    </p:embeddedFont>
    <p:embeddedFont>
      <p:font typeface="Noto Serif" charset="1" panose="020206000605000202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4999" y="4327028"/>
            <a:ext cx="13716000" cy="2663916"/>
            <a:chOff x="0" y="0"/>
            <a:chExt cx="18288000" cy="3551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3551891"/>
            </a:xfrm>
            <a:custGeom>
              <a:avLst/>
              <a:gdLst/>
              <a:ahLst/>
              <a:cxnLst/>
              <a:rect r="r" b="b" t="t" l="l"/>
              <a:pathLst>
                <a:path h="3551891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3551891"/>
                  </a:lnTo>
                  <a:lnTo>
                    <a:pt x="0" y="35518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84" r="0" b="-2786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123825"/>
              <a:ext cx="18288000" cy="342806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325"/>
                </a:lnSpc>
              </a:pPr>
              <a:r>
                <a:rPr lang="en-US" sz="8100" b="true">
                  <a:solidFill>
                    <a:srgbClr val="0D0D0D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Web-Based Chess Game with 			AI Bot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7556" y="7429814"/>
            <a:ext cx="4676204" cy="169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Submitted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Dhruv Singh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2427030595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04240" y="7419175"/>
            <a:ext cx="4676204" cy="169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Supervised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Harshika Mathur</a:t>
            </a:r>
          </a:p>
          <a:p>
            <a:pPr algn="ctr">
              <a:lnSpc>
                <a:spcPts val="3888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51133" y="54054"/>
            <a:ext cx="6261059" cy="1834115"/>
            <a:chOff x="0" y="0"/>
            <a:chExt cx="8348078" cy="2445487"/>
          </a:xfrm>
        </p:grpSpPr>
        <p:sp>
          <p:nvSpPr>
            <p:cNvPr name="Freeform 8" id="8" descr="A black and white text  AI-generated content may be incorrect."/>
            <p:cNvSpPr/>
            <p:nvPr/>
          </p:nvSpPr>
          <p:spPr>
            <a:xfrm flipH="false" flipV="false" rot="0">
              <a:off x="0" y="0"/>
              <a:ext cx="8348091" cy="2445512"/>
            </a:xfrm>
            <a:custGeom>
              <a:avLst/>
              <a:gdLst/>
              <a:ahLst/>
              <a:cxnLst/>
              <a:rect r="r" b="b" t="t" l="l"/>
              <a:pathLst>
                <a:path h="2445512" w="8348091">
                  <a:moveTo>
                    <a:pt x="0" y="0"/>
                  </a:moveTo>
                  <a:lnTo>
                    <a:pt x="8348091" y="0"/>
                  </a:lnTo>
                  <a:lnTo>
                    <a:pt x="8348091" y="2445512"/>
                  </a:lnTo>
                  <a:lnTo>
                    <a:pt x="0" y="2445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91315" y="1888179"/>
            <a:ext cx="13716000" cy="1668418"/>
            <a:chOff x="0" y="0"/>
            <a:chExt cx="18288000" cy="22245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2224552"/>
            </a:xfrm>
            <a:custGeom>
              <a:avLst/>
              <a:gdLst/>
              <a:ahLst/>
              <a:cxnLst/>
              <a:rect r="r" b="b" t="t" l="l"/>
              <a:pathLst>
                <a:path h="22245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224552"/>
                  </a:lnTo>
                  <a:lnTo>
                    <a:pt x="0" y="2224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186" r="0" b="-1101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8288000" cy="23102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594"/>
                </a:lnSpc>
              </a:pPr>
              <a:r>
                <a:rPr lang="en-US" sz="38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School of Computer Science and Engineering</a:t>
              </a:r>
            </a:p>
            <a:p>
              <a:pPr algn="ctr">
                <a:lnSpc>
                  <a:spcPts val="5594"/>
                </a:lnSpc>
              </a:pPr>
              <a:r>
                <a:rPr lang="en-US" sz="38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Department of Computer Science and Engineering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7643" y="721966"/>
            <a:ext cx="6269679" cy="91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4875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643" y="1958873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77643" y="2480367"/>
            <a:ext cx="8155486" cy="28575"/>
            <a:chOff x="0" y="0"/>
            <a:chExt cx="10873981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7643" y="2605678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7643" y="3063773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Background on chess engines and web-based platforms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4881" y="1958873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54881" y="2480367"/>
            <a:ext cx="8155486" cy="28575"/>
            <a:chOff x="0" y="0"/>
            <a:chExt cx="10873981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254881" y="2605678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Literature Review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54881" y="3063773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Classical algorithms and existing platforms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7643" y="3851519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643" y="4373013"/>
            <a:ext cx="8155486" cy="28575"/>
            <a:chOff x="0" y="0"/>
            <a:chExt cx="10873981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643" y="4498334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Problem Statement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7643" y="4956419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Core challenge and objectives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54881" y="3851519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54881" y="4373013"/>
            <a:ext cx="8155486" cy="28575"/>
            <a:chOff x="0" y="0"/>
            <a:chExt cx="10873981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254881" y="4498334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Objectives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54881" y="4956419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Implementation goals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7643" y="5744166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77643" y="6265659"/>
            <a:ext cx="8155486" cy="28575"/>
            <a:chOff x="0" y="0"/>
            <a:chExt cx="10873981" cy="381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77643" y="6390980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Methodology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7643" y="6849066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Technologies and implementation approach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54881" y="5744166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06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54881" y="6265659"/>
            <a:ext cx="8155486" cy="28575"/>
            <a:chOff x="0" y="0"/>
            <a:chExt cx="10873981" cy="38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254881" y="6390980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Results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54881" y="6849066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Current achievements and outcomes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77643" y="7636821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07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77643" y="8158315"/>
            <a:ext cx="8155486" cy="28575"/>
            <a:chOff x="0" y="0"/>
            <a:chExt cx="10873981" cy="38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77643" y="8283626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Future Scope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77643" y="8741721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Deep learning integration plans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54881" y="7636821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08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54881" y="8158315"/>
            <a:ext cx="8155486" cy="28575"/>
            <a:chOff x="0" y="0"/>
            <a:chExt cx="10873981" cy="38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254881" y="8283626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References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254881" y="8741721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Sources and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10788" y="498577"/>
            <a:ext cx="5313912" cy="77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4125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0788" y="3390005"/>
            <a:ext cx="3227041" cy="37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062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What is a Chess Engine?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0788" y="3852710"/>
            <a:ext cx="9351616" cy="96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624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A chess engine is specialized software that calculates and evaluates chess moves. It uses algorithms to analyze the board, simulate future positions, and select optimal moves based on evaluation functions.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10788" y="4932607"/>
            <a:ext cx="3697481" cy="37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062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Why AI in Strategic Games?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0788" y="5395312"/>
            <a:ext cx="9351616" cy="96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624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AI transforms how we learn and play chess, offering opponents across all skill levels. These systems validate algorithms and push the boundaries of what computers can achieve in strategic thinking.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690452" y="1695298"/>
            <a:ext cx="4796133" cy="6394847"/>
            <a:chOff x="0" y="0"/>
            <a:chExt cx="6394844" cy="852646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394831" cy="8526399"/>
            </a:xfrm>
            <a:custGeom>
              <a:avLst/>
              <a:gdLst/>
              <a:ahLst/>
              <a:cxnLst/>
              <a:rect r="r" b="b" t="t" l="l"/>
              <a:pathLst>
                <a:path h="8526399" w="6394831">
                  <a:moveTo>
                    <a:pt x="0" y="0"/>
                  </a:moveTo>
                  <a:lnTo>
                    <a:pt x="6394831" y="0"/>
                  </a:lnTo>
                  <a:lnTo>
                    <a:pt x="6394831" y="8526399"/>
                  </a:lnTo>
                  <a:lnTo>
                    <a:pt x="0" y="8526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4" t="0" r="-74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10788" y="8460734"/>
            <a:ext cx="2656875" cy="37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062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Project 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0788" y="9003211"/>
            <a:ext cx="14666414" cy="67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624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This project delivers a complete web-based chess platform featuring an intelligent AI opponent. The system validates moves, detects checks and checkmates, and manages game states while providing a foundation for future deep learning enhancements.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67095" y="1132132"/>
            <a:ext cx="5852665" cy="87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4561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Literature Review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7095" y="2393156"/>
            <a:ext cx="7980159" cy="3212754"/>
            <a:chOff x="0" y="0"/>
            <a:chExt cx="10640212" cy="42836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40314" cy="4283710"/>
            </a:xfrm>
            <a:custGeom>
              <a:avLst/>
              <a:gdLst/>
              <a:ahLst/>
              <a:cxnLst/>
              <a:rect r="r" b="b" t="t" l="l"/>
              <a:pathLst>
                <a:path h="4283710" w="10640314">
                  <a:moveTo>
                    <a:pt x="0" y="46863"/>
                  </a:moveTo>
                  <a:cubicBezTo>
                    <a:pt x="0" y="20955"/>
                    <a:pt x="20955" y="0"/>
                    <a:pt x="46863" y="0"/>
                  </a:cubicBezTo>
                  <a:lnTo>
                    <a:pt x="10593451" y="0"/>
                  </a:lnTo>
                  <a:cubicBezTo>
                    <a:pt x="10619359" y="0"/>
                    <a:pt x="10640314" y="20955"/>
                    <a:pt x="10640314" y="46863"/>
                  </a:cubicBezTo>
                  <a:lnTo>
                    <a:pt x="10640314" y="4236847"/>
                  </a:lnTo>
                  <a:cubicBezTo>
                    <a:pt x="10640314" y="4262755"/>
                    <a:pt x="10619359" y="4283710"/>
                    <a:pt x="10593451" y="4283710"/>
                  </a:cubicBezTo>
                  <a:lnTo>
                    <a:pt x="46863" y="4283710"/>
                  </a:lnTo>
                  <a:cubicBezTo>
                    <a:pt x="20955" y="4283710"/>
                    <a:pt x="0" y="4262755"/>
                    <a:pt x="0" y="4236847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1201" y="2627262"/>
            <a:ext cx="702316" cy="702316"/>
            <a:chOff x="0" y="0"/>
            <a:chExt cx="936422" cy="9364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6371" cy="936371"/>
            </a:xfrm>
            <a:custGeom>
              <a:avLst/>
              <a:gdLst/>
              <a:ahLst/>
              <a:cxnLst/>
              <a:rect r="r" b="b" t="t" l="l"/>
              <a:pathLst>
                <a:path h="936371" w="936371">
                  <a:moveTo>
                    <a:pt x="0" y="468249"/>
                  </a:moveTo>
                  <a:cubicBezTo>
                    <a:pt x="0" y="209677"/>
                    <a:pt x="209677" y="0"/>
                    <a:pt x="468249" y="0"/>
                  </a:cubicBezTo>
                  <a:cubicBezTo>
                    <a:pt x="726821" y="0"/>
                    <a:pt x="936371" y="209677"/>
                    <a:pt x="936371" y="468249"/>
                  </a:cubicBezTo>
                  <a:cubicBezTo>
                    <a:pt x="936371" y="726821"/>
                    <a:pt x="726821" y="936371"/>
                    <a:pt x="468249" y="936371"/>
                  </a:cubicBezTo>
                  <a:cubicBezTo>
                    <a:pt x="209677" y="936371"/>
                    <a:pt x="0" y="726821"/>
                    <a:pt x="0" y="468249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494387" y="2820295"/>
            <a:ext cx="315963" cy="315963"/>
          </a:xfrm>
          <a:custGeom>
            <a:avLst/>
            <a:gdLst/>
            <a:ahLst/>
            <a:cxnLst/>
            <a:rect r="r" b="b" t="t" l="l"/>
            <a:pathLst>
              <a:path h="315963" w="315963">
                <a:moveTo>
                  <a:pt x="0" y="0"/>
                </a:moveTo>
                <a:lnTo>
                  <a:pt x="315963" y="0"/>
                </a:lnTo>
                <a:lnTo>
                  <a:pt x="315963" y="315964"/>
                </a:lnTo>
                <a:lnTo>
                  <a:pt x="0" y="315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01201" y="3456089"/>
            <a:ext cx="306184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25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Classical Algorithms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1201" y="3909117"/>
            <a:ext cx="7511948" cy="146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812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Minimax</a:t>
            </a: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explores all possible moves recursively, assuming optimal opponent play. </a:t>
            </a:r>
            <a:r>
              <a:rPr lang="en-US" sz="1812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Alpha-Beta Pruning</a:t>
            </a: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improves efficiency by eliminating branches that won't influence the decision, significantly reducing computation time.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40441" y="2393156"/>
            <a:ext cx="7980312" cy="3212754"/>
            <a:chOff x="0" y="0"/>
            <a:chExt cx="10640416" cy="4283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40441" cy="4283710"/>
            </a:xfrm>
            <a:custGeom>
              <a:avLst/>
              <a:gdLst/>
              <a:ahLst/>
              <a:cxnLst/>
              <a:rect r="r" b="b" t="t" l="l"/>
              <a:pathLst>
                <a:path h="4283710" w="10640441">
                  <a:moveTo>
                    <a:pt x="0" y="46863"/>
                  </a:moveTo>
                  <a:cubicBezTo>
                    <a:pt x="0" y="20955"/>
                    <a:pt x="20955" y="0"/>
                    <a:pt x="46863" y="0"/>
                  </a:cubicBezTo>
                  <a:lnTo>
                    <a:pt x="10593578" y="0"/>
                  </a:lnTo>
                  <a:cubicBezTo>
                    <a:pt x="10619486" y="0"/>
                    <a:pt x="10640441" y="20955"/>
                    <a:pt x="10640441" y="46863"/>
                  </a:cubicBezTo>
                  <a:lnTo>
                    <a:pt x="10640441" y="4236847"/>
                  </a:lnTo>
                  <a:cubicBezTo>
                    <a:pt x="10640441" y="4262755"/>
                    <a:pt x="10619486" y="4283710"/>
                    <a:pt x="10593578" y="4283710"/>
                  </a:cubicBezTo>
                  <a:lnTo>
                    <a:pt x="46863" y="4283710"/>
                  </a:lnTo>
                  <a:cubicBezTo>
                    <a:pt x="20955" y="4283710"/>
                    <a:pt x="0" y="4262755"/>
                    <a:pt x="0" y="4236847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474546" y="2627262"/>
            <a:ext cx="702316" cy="702316"/>
            <a:chOff x="0" y="0"/>
            <a:chExt cx="936422" cy="9364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6371" cy="936371"/>
            </a:xfrm>
            <a:custGeom>
              <a:avLst/>
              <a:gdLst/>
              <a:ahLst/>
              <a:cxnLst/>
              <a:rect r="r" b="b" t="t" l="l"/>
              <a:pathLst>
                <a:path h="936371" w="936371">
                  <a:moveTo>
                    <a:pt x="0" y="468249"/>
                  </a:moveTo>
                  <a:cubicBezTo>
                    <a:pt x="0" y="209677"/>
                    <a:pt x="209677" y="0"/>
                    <a:pt x="468249" y="0"/>
                  </a:cubicBezTo>
                  <a:cubicBezTo>
                    <a:pt x="726821" y="0"/>
                    <a:pt x="936371" y="209677"/>
                    <a:pt x="936371" y="468249"/>
                  </a:cubicBezTo>
                  <a:cubicBezTo>
                    <a:pt x="936371" y="726821"/>
                    <a:pt x="726821" y="936371"/>
                    <a:pt x="468249" y="936371"/>
                  </a:cubicBezTo>
                  <a:cubicBezTo>
                    <a:pt x="209677" y="936371"/>
                    <a:pt x="0" y="726821"/>
                    <a:pt x="0" y="468249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667723" y="2820295"/>
            <a:ext cx="315963" cy="315963"/>
          </a:xfrm>
          <a:custGeom>
            <a:avLst/>
            <a:gdLst/>
            <a:ahLst/>
            <a:cxnLst/>
            <a:rect r="r" b="b" t="t" l="l"/>
            <a:pathLst>
              <a:path h="315963" w="315963">
                <a:moveTo>
                  <a:pt x="0" y="0"/>
                </a:moveTo>
                <a:lnTo>
                  <a:pt x="315963" y="0"/>
                </a:lnTo>
                <a:lnTo>
                  <a:pt x="315963" y="315964"/>
                </a:lnTo>
                <a:lnTo>
                  <a:pt x="0" y="3159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410" r="0" b="-441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474546" y="3456089"/>
            <a:ext cx="2926261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25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Rule-Based vs ML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74546" y="3909117"/>
            <a:ext cx="7512101" cy="146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Rule-based systems use hand-coded evaluation functions with material values and positional rules. Machine learning approaches learn evaluation patterns from games data, improving through training and experience.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7095" y="5799087"/>
            <a:ext cx="7980159" cy="3212754"/>
            <a:chOff x="0" y="0"/>
            <a:chExt cx="10640212" cy="42836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40314" cy="4283710"/>
            </a:xfrm>
            <a:custGeom>
              <a:avLst/>
              <a:gdLst/>
              <a:ahLst/>
              <a:cxnLst/>
              <a:rect r="r" b="b" t="t" l="l"/>
              <a:pathLst>
                <a:path h="4283710" w="10640314">
                  <a:moveTo>
                    <a:pt x="0" y="46863"/>
                  </a:moveTo>
                  <a:cubicBezTo>
                    <a:pt x="0" y="20955"/>
                    <a:pt x="20955" y="0"/>
                    <a:pt x="46863" y="0"/>
                  </a:cubicBezTo>
                  <a:lnTo>
                    <a:pt x="10593451" y="0"/>
                  </a:lnTo>
                  <a:cubicBezTo>
                    <a:pt x="10619359" y="0"/>
                    <a:pt x="10640314" y="20955"/>
                    <a:pt x="10640314" y="46863"/>
                  </a:cubicBezTo>
                  <a:lnTo>
                    <a:pt x="10640314" y="4236847"/>
                  </a:lnTo>
                  <a:cubicBezTo>
                    <a:pt x="10640314" y="4262755"/>
                    <a:pt x="10619359" y="4283710"/>
                    <a:pt x="10593451" y="4283710"/>
                  </a:cubicBezTo>
                  <a:lnTo>
                    <a:pt x="46863" y="4283710"/>
                  </a:lnTo>
                  <a:cubicBezTo>
                    <a:pt x="20955" y="4283710"/>
                    <a:pt x="0" y="4262755"/>
                    <a:pt x="0" y="4236847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1201" y="6033192"/>
            <a:ext cx="702316" cy="702316"/>
            <a:chOff x="0" y="0"/>
            <a:chExt cx="936422" cy="9364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6371" cy="936371"/>
            </a:xfrm>
            <a:custGeom>
              <a:avLst/>
              <a:gdLst/>
              <a:ahLst/>
              <a:cxnLst/>
              <a:rect r="r" b="b" t="t" l="l"/>
              <a:pathLst>
                <a:path h="936371" w="936371">
                  <a:moveTo>
                    <a:pt x="0" y="468249"/>
                  </a:moveTo>
                  <a:cubicBezTo>
                    <a:pt x="0" y="209677"/>
                    <a:pt x="209677" y="0"/>
                    <a:pt x="468249" y="0"/>
                  </a:cubicBezTo>
                  <a:cubicBezTo>
                    <a:pt x="726821" y="0"/>
                    <a:pt x="936371" y="209677"/>
                    <a:pt x="936371" y="468249"/>
                  </a:cubicBezTo>
                  <a:cubicBezTo>
                    <a:pt x="936371" y="726821"/>
                    <a:pt x="726821" y="936371"/>
                    <a:pt x="468249" y="936371"/>
                  </a:cubicBezTo>
                  <a:cubicBezTo>
                    <a:pt x="209677" y="936371"/>
                    <a:pt x="0" y="726821"/>
                    <a:pt x="0" y="468249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494387" y="6226226"/>
            <a:ext cx="315963" cy="315963"/>
          </a:xfrm>
          <a:custGeom>
            <a:avLst/>
            <a:gdLst/>
            <a:ahLst/>
            <a:cxnLst/>
            <a:rect r="r" b="b" t="t" l="l"/>
            <a:pathLst>
              <a:path h="315963" w="315963">
                <a:moveTo>
                  <a:pt x="0" y="0"/>
                </a:moveTo>
                <a:lnTo>
                  <a:pt x="315963" y="0"/>
                </a:lnTo>
                <a:lnTo>
                  <a:pt x="315963" y="315963"/>
                </a:lnTo>
                <a:lnTo>
                  <a:pt x="0" y="3159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01201" y="6862020"/>
            <a:ext cx="2926261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25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Existing Platforms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1201" y="7315048"/>
            <a:ext cx="7511948" cy="146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Platforms like </a:t>
            </a:r>
            <a:r>
              <a:rPr lang="en-US" sz="1812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Lichess</a:t>
            </a: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and Chess.com provide extensive databases, tutorials, and opponents. They use established chess engines (Stockfish, Komodo) combined with scalable infrastructure for millions of users.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40441" y="5799087"/>
            <a:ext cx="7980312" cy="3212754"/>
            <a:chOff x="0" y="0"/>
            <a:chExt cx="10640416" cy="42836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40441" cy="4283710"/>
            </a:xfrm>
            <a:custGeom>
              <a:avLst/>
              <a:gdLst/>
              <a:ahLst/>
              <a:cxnLst/>
              <a:rect r="r" b="b" t="t" l="l"/>
              <a:pathLst>
                <a:path h="4283710" w="10640441">
                  <a:moveTo>
                    <a:pt x="0" y="46863"/>
                  </a:moveTo>
                  <a:cubicBezTo>
                    <a:pt x="0" y="20955"/>
                    <a:pt x="20955" y="0"/>
                    <a:pt x="46863" y="0"/>
                  </a:cubicBezTo>
                  <a:lnTo>
                    <a:pt x="10593578" y="0"/>
                  </a:lnTo>
                  <a:cubicBezTo>
                    <a:pt x="10619486" y="0"/>
                    <a:pt x="10640441" y="20955"/>
                    <a:pt x="10640441" y="46863"/>
                  </a:cubicBezTo>
                  <a:lnTo>
                    <a:pt x="10640441" y="4236847"/>
                  </a:lnTo>
                  <a:cubicBezTo>
                    <a:pt x="10640441" y="4262755"/>
                    <a:pt x="10619486" y="4283710"/>
                    <a:pt x="10593578" y="4283710"/>
                  </a:cubicBezTo>
                  <a:lnTo>
                    <a:pt x="46863" y="4283710"/>
                  </a:lnTo>
                  <a:cubicBezTo>
                    <a:pt x="20955" y="4283710"/>
                    <a:pt x="0" y="4262755"/>
                    <a:pt x="0" y="4236847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474546" y="6033192"/>
            <a:ext cx="702316" cy="702316"/>
            <a:chOff x="0" y="0"/>
            <a:chExt cx="936422" cy="9364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6371" cy="936371"/>
            </a:xfrm>
            <a:custGeom>
              <a:avLst/>
              <a:gdLst/>
              <a:ahLst/>
              <a:cxnLst/>
              <a:rect r="r" b="b" t="t" l="l"/>
              <a:pathLst>
                <a:path h="936371" w="936371">
                  <a:moveTo>
                    <a:pt x="0" y="468249"/>
                  </a:moveTo>
                  <a:cubicBezTo>
                    <a:pt x="0" y="209677"/>
                    <a:pt x="209677" y="0"/>
                    <a:pt x="468249" y="0"/>
                  </a:cubicBezTo>
                  <a:cubicBezTo>
                    <a:pt x="726821" y="0"/>
                    <a:pt x="936371" y="209677"/>
                    <a:pt x="936371" y="468249"/>
                  </a:cubicBezTo>
                  <a:cubicBezTo>
                    <a:pt x="936371" y="726821"/>
                    <a:pt x="726821" y="936371"/>
                    <a:pt x="468249" y="936371"/>
                  </a:cubicBezTo>
                  <a:cubicBezTo>
                    <a:pt x="209677" y="936371"/>
                    <a:pt x="0" y="726821"/>
                    <a:pt x="0" y="468249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667723" y="6226226"/>
            <a:ext cx="315963" cy="315963"/>
          </a:xfrm>
          <a:custGeom>
            <a:avLst/>
            <a:gdLst/>
            <a:ahLst/>
            <a:cxnLst/>
            <a:rect r="r" b="b" t="t" l="l"/>
            <a:pathLst>
              <a:path h="315963" w="315963">
                <a:moveTo>
                  <a:pt x="0" y="0"/>
                </a:moveTo>
                <a:lnTo>
                  <a:pt x="315963" y="0"/>
                </a:lnTo>
                <a:lnTo>
                  <a:pt x="315963" y="315963"/>
                </a:lnTo>
                <a:lnTo>
                  <a:pt x="0" y="3159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474546" y="6862020"/>
            <a:ext cx="2926261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25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Future Potential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74546" y="7315048"/>
            <a:ext cx="7512101" cy="146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Deep learning can process board positions as tensors, learning evaluation functions from game databases rather than manual coding. Neural networks have shown remarkable improvement in engines like AlphaZero.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34123" y="2119760"/>
            <a:ext cx="4829918" cy="72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375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34123" y="2892181"/>
            <a:ext cx="10077745" cy="51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5187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Develop a web-based chess application with an intelligent AI bot, with deep learning enhancement.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93391"/>
            <a:ext cx="7088238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sz="5562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Project 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723998"/>
            <a:ext cx="8009925" cy="3004242"/>
            <a:chOff x="0" y="0"/>
            <a:chExt cx="10679900" cy="4005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9938" cy="4005707"/>
            </a:xfrm>
            <a:custGeom>
              <a:avLst/>
              <a:gdLst/>
              <a:ahLst/>
              <a:cxnLst/>
              <a:rect r="r" b="b" t="t" l="l"/>
              <a:pathLst>
                <a:path h="4005707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761867"/>
                  </a:lnTo>
                  <a:cubicBezTo>
                    <a:pt x="10679938" y="3896487"/>
                    <a:pt x="10570718" y="4005707"/>
                    <a:pt x="10436098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2685898"/>
            <a:ext cx="8009925" cy="152400"/>
            <a:chOff x="0" y="0"/>
            <a:chExt cx="10679900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9937" cy="203327"/>
            </a:xfrm>
            <a:custGeom>
              <a:avLst/>
              <a:gdLst/>
              <a:ahLst/>
              <a:cxnLst/>
              <a:rect r="r" b="b" t="t" l="l"/>
              <a:pathLst>
                <a:path h="203327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146558"/>
                  </a:lnTo>
                  <a:cubicBezTo>
                    <a:pt x="10679937" y="177927"/>
                    <a:pt x="10654537" y="203327"/>
                    <a:pt x="10623169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571924" y="2298802"/>
            <a:ext cx="850554" cy="850554"/>
            <a:chOff x="0" y="0"/>
            <a:chExt cx="1134072" cy="1134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827013" y="2320976"/>
            <a:ext cx="340223" cy="6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2625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0" y="3356524"/>
            <a:ext cx="4665764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Build Web Chess 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0" y="3893344"/>
            <a:ext cx="7366692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Develop complete front-end interface using HTML/CSS for rendering chess boards and capturing user moves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85684" y="2723998"/>
            <a:ext cx="8010077" cy="3004242"/>
            <a:chOff x="0" y="0"/>
            <a:chExt cx="10680103" cy="40056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80065" cy="4005707"/>
            </a:xfrm>
            <a:custGeom>
              <a:avLst/>
              <a:gdLst/>
              <a:ahLst/>
              <a:cxnLst/>
              <a:rect r="r" b="b" t="t" l="l"/>
              <a:pathLst>
                <a:path h="4005707" w="1068006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761867"/>
                  </a:lnTo>
                  <a:cubicBezTo>
                    <a:pt x="10680065" y="3896487"/>
                    <a:pt x="10570845" y="4005707"/>
                    <a:pt x="10436225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85684" y="2685898"/>
            <a:ext cx="8010077" cy="152400"/>
            <a:chOff x="0" y="0"/>
            <a:chExt cx="10680103" cy="20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80192" cy="203327"/>
            </a:xfrm>
            <a:custGeom>
              <a:avLst/>
              <a:gdLst/>
              <a:ahLst/>
              <a:cxnLst/>
              <a:rect r="r" b="b" t="t" l="l"/>
              <a:pathLst>
                <a:path h="203327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146558"/>
                  </a:lnTo>
                  <a:cubicBezTo>
                    <a:pt x="10680192" y="177927"/>
                    <a:pt x="10654792" y="203327"/>
                    <a:pt x="10623423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65370" y="2298802"/>
            <a:ext cx="850554" cy="850554"/>
            <a:chOff x="0" y="0"/>
            <a:chExt cx="1134072" cy="1134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120459" y="2320976"/>
            <a:ext cx="340223" cy="6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2625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07306" y="3356524"/>
            <a:ext cx="385807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Implement AI Engine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7306" y="3893344"/>
            <a:ext cx="7366845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Code Minimax algorithm with Alpha-Beta pruning for intelligent move generation and game analysis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238" y="6436966"/>
            <a:ext cx="8009925" cy="3004242"/>
            <a:chOff x="0" y="0"/>
            <a:chExt cx="10679900" cy="40056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79938" cy="4005707"/>
            </a:xfrm>
            <a:custGeom>
              <a:avLst/>
              <a:gdLst/>
              <a:ahLst/>
              <a:cxnLst/>
              <a:rect r="r" b="b" t="t" l="l"/>
              <a:pathLst>
                <a:path h="4005707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761867"/>
                  </a:lnTo>
                  <a:cubicBezTo>
                    <a:pt x="10679938" y="3896487"/>
                    <a:pt x="10570718" y="4005707"/>
                    <a:pt x="10436098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92238" y="6398866"/>
            <a:ext cx="8009925" cy="152400"/>
            <a:chOff x="0" y="0"/>
            <a:chExt cx="10679900" cy="20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79937" cy="203327"/>
            </a:xfrm>
            <a:custGeom>
              <a:avLst/>
              <a:gdLst/>
              <a:ahLst/>
              <a:cxnLst/>
              <a:rect r="r" b="b" t="t" l="l"/>
              <a:pathLst>
                <a:path h="203327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146558"/>
                  </a:lnTo>
                  <a:cubicBezTo>
                    <a:pt x="10679937" y="177927"/>
                    <a:pt x="10654537" y="203327"/>
                    <a:pt x="10623169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71924" y="6011761"/>
            <a:ext cx="850554" cy="850554"/>
            <a:chOff x="0" y="0"/>
            <a:chExt cx="1134072" cy="1134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827013" y="6033935"/>
            <a:ext cx="340223" cy="6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2625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3850" y="7069484"/>
            <a:ext cx="3677545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Validate Game Rules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3850" y="7606303"/>
            <a:ext cx="7366692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Ensure correct implementation of chess rules including legal move validation, check detection, and game state management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85684" y="6436966"/>
            <a:ext cx="8010077" cy="3004242"/>
            <a:chOff x="0" y="0"/>
            <a:chExt cx="10680103" cy="40056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80065" cy="4005707"/>
            </a:xfrm>
            <a:custGeom>
              <a:avLst/>
              <a:gdLst/>
              <a:ahLst/>
              <a:cxnLst/>
              <a:rect r="r" b="b" t="t" l="l"/>
              <a:pathLst>
                <a:path h="4005707" w="1068006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761867"/>
                  </a:lnTo>
                  <a:cubicBezTo>
                    <a:pt x="10680065" y="3896487"/>
                    <a:pt x="10570845" y="4005707"/>
                    <a:pt x="10436225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85684" y="6398866"/>
            <a:ext cx="8010077" cy="152400"/>
            <a:chOff x="0" y="0"/>
            <a:chExt cx="10680103" cy="203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80192" cy="203327"/>
            </a:xfrm>
            <a:custGeom>
              <a:avLst/>
              <a:gdLst/>
              <a:ahLst/>
              <a:cxnLst/>
              <a:rect r="r" b="b" t="t" l="l"/>
              <a:pathLst>
                <a:path h="203327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146558"/>
                  </a:lnTo>
                  <a:cubicBezTo>
                    <a:pt x="10680192" y="177927"/>
                    <a:pt x="10654792" y="203327"/>
                    <a:pt x="10623423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865370" y="6011761"/>
            <a:ext cx="850554" cy="850554"/>
            <a:chOff x="0" y="0"/>
            <a:chExt cx="1134072" cy="1134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120459" y="6033935"/>
            <a:ext cx="340223" cy="6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2625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07306" y="7069484"/>
            <a:ext cx="477768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Prepare for Deep Learning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07306" y="7606303"/>
            <a:ext cx="7366845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Structure codebase to support future neural network implementation using Lichess database for training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5095" y="1084059"/>
            <a:ext cx="1322713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90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Proposed 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2070" y="2570293"/>
            <a:ext cx="5068195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4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Frontend Layer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2003" y="3534223"/>
            <a:ext cx="165759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30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HTML/CSS</a:t>
            </a:r>
            <a:r>
              <a:rPr lang="en-US" sz="3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structure and styling for rendering the chess board, pieces, and user interface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2070" y="4067623"/>
            <a:ext cx="4961858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4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Backend Layer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2003" y="4885353"/>
            <a:ext cx="1579108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30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Flask</a:t>
            </a:r>
            <a:r>
              <a:rPr lang="en-US" sz="3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handles HTTP requests, game state persistence, and API endpoints for move</a:t>
            </a:r>
          </a:p>
          <a:p>
            <a:pPr algn="l">
              <a:lnSpc>
                <a:spcPts val="1575"/>
              </a:lnSpc>
            </a:pPr>
          </a:p>
          <a:p>
            <a:pPr algn="l">
              <a:lnSpc>
                <a:spcPts val="1575"/>
              </a:lnSpc>
            </a:pPr>
            <a:r>
              <a:rPr lang="en-US" sz="3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2070" y="5999778"/>
            <a:ext cx="5032772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4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Chess Logic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6914" y="6563658"/>
            <a:ext cx="160046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30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python-chess</a:t>
            </a:r>
            <a:r>
              <a:rPr lang="en-US" sz="3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library manages move generation, validation, and game state tracking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9815" y="7278033"/>
            <a:ext cx="4961858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4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Move Validation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6914" y="7841913"/>
            <a:ext cx="1586734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3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Ensures all moves follow chess rules and updates game state for checks and captures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2070" y="8467835"/>
            <a:ext cx="5068195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4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AI Decision Engine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02003" y="9201207"/>
            <a:ext cx="16157163" cy="85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4"/>
              </a:lnSpc>
            </a:pPr>
            <a:r>
              <a:rPr lang="en-US" sz="298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Evaluation function scores positions, Minimax selects optimal moves through recursive</a:t>
            </a:r>
          </a:p>
          <a:p>
            <a:pPr algn="l">
              <a:lnSpc>
                <a:spcPts val="1564"/>
              </a:lnSpc>
            </a:pPr>
            <a:r>
              <a:rPr lang="en-US" sz="298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  <a:p>
            <a:pPr algn="l">
              <a:lnSpc>
                <a:spcPts val="1564"/>
              </a:lnSpc>
            </a:pPr>
            <a:r>
              <a:rPr lang="en-US" sz="298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tree search</a:t>
            </a:r>
          </a:p>
          <a:p>
            <a:pPr algn="l">
              <a:lnSpc>
                <a:spcPts val="156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44888" y="503187"/>
            <a:ext cx="5987653" cy="64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3375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AI Working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4888" y="1370114"/>
            <a:ext cx="2726379" cy="31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687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Current Implementation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44888" y="1738760"/>
            <a:ext cx="5787028" cy="80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Generates all legal moves from current position</a:t>
            </a:r>
          </a:p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Evaluates positions using material and positional factors</a:t>
            </a:r>
          </a:p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Minimax selects best move through recursive tree 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65609" y="1370114"/>
            <a:ext cx="3073594" cy="31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687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Future Deep Learning Plans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65609" y="1738760"/>
            <a:ext cx="5787028" cy="173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Train neural network using Lichess database with millions of games</a:t>
            </a:r>
          </a:p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Convert board states to tensor representations for neural networks</a:t>
            </a:r>
          </a:p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Implement neural evaluation function instead of hand-coded heuristics</a:t>
            </a:r>
          </a:p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Improve performance and accuracy beyond classical algorithms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44888" y="3626939"/>
            <a:ext cx="3044723" cy="31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687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Minimax Tree Visualization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166910" y="4106018"/>
            <a:ext cx="11954027" cy="5573020"/>
            <a:chOff x="0" y="0"/>
            <a:chExt cx="15938703" cy="743069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938754" cy="7430643"/>
            </a:xfrm>
            <a:custGeom>
              <a:avLst/>
              <a:gdLst/>
              <a:ahLst/>
              <a:cxnLst/>
              <a:rect r="r" b="b" t="t" l="l"/>
              <a:pathLst>
                <a:path h="7430643" w="15938754">
                  <a:moveTo>
                    <a:pt x="0" y="0"/>
                  </a:moveTo>
                  <a:lnTo>
                    <a:pt x="15938754" y="0"/>
                  </a:lnTo>
                  <a:lnTo>
                    <a:pt x="15938754" y="7430643"/>
                  </a:lnTo>
                  <a:lnTo>
                    <a:pt x="0" y="7430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606765" y="4816088"/>
            <a:ext cx="2699566" cy="39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24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Root Node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0784" y="5306663"/>
            <a:ext cx="2855538" cy="43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6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Current position, begin recursive search.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81412" y="5727935"/>
            <a:ext cx="2699566" cy="39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24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Level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81412" y="6218520"/>
            <a:ext cx="2855538" cy="43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Three child moves generated and evaluated.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06765" y="6663785"/>
            <a:ext cx="2699566" cy="39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24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Level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50784" y="7154370"/>
            <a:ext cx="2855538" cy="43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6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Two leaf positions per child with scores.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81412" y="7707620"/>
            <a:ext cx="2699566" cy="39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24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Evaluation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81412" y="8198196"/>
            <a:ext cx="2855538" cy="43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Leaf scores propagated via minimax recursion.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6093" y="744884"/>
            <a:ext cx="64008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4999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Results &amp; Outcome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6093" y="2044151"/>
            <a:ext cx="9637814" cy="3792436"/>
            <a:chOff x="0" y="0"/>
            <a:chExt cx="12850419" cy="50565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50368" cy="5056505"/>
            </a:xfrm>
            <a:custGeom>
              <a:avLst/>
              <a:gdLst/>
              <a:ahLst/>
              <a:cxnLst/>
              <a:rect r="r" b="b" t="t" l="l"/>
              <a:pathLst>
                <a:path h="5056505" w="12850368">
                  <a:moveTo>
                    <a:pt x="0" y="51181"/>
                  </a:moveTo>
                  <a:cubicBezTo>
                    <a:pt x="0" y="22987"/>
                    <a:pt x="22987" y="0"/>
                    <a:pt x="51181" y="0"/>
                  </a:cubicBezTo>
                  <a:lnTo>
                    <a:pt x="12799187" y="0"/>
                  </a:lnTo>
                  <a:cubicBezTo>
                    <a:pt x="12827508" y="0"/>
                    <a:pt x="12850368" y="22987"/>
                    <a:pt x="12850368" y="51181"/>
                  </a:cubicBezTo>
                  <a:lnTo>
                    <a:pt x="12850368" y="5005324"/>
                  </a:lnTo>
                  <a:cubicBezTo>
                    <a:pt x="12850368" y="5033645"/>
                    <a:pt x="12827381" y="5056505"/>
                    <a:pt x="12799187" y="5056505"/>
                  </a:cubicBezTo>
                  <a:lnTo>
                    <a:pt x="51181" y="5056505"/>
                  </a:lnTo>
                  <a:cubicBezTo>
                    <a:pt x="22860" y="5056505"/>
                    <a:pt x="0" y="5033518"/>
                    <a:pt x="0" y="5005324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52077" y="2223935"/>
            <a:ext cx="3648523" cy="47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4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Current Achievements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2077" y="2714920"/>
            <a:ext cx="9125845" cy="286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Working web chess application deployed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AI bot functions correctly with game rules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Complete legal move validation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Check and checkmate detection implemented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Codebase on GitHub with documentation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Flask backend handling game states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96093" y="6067720"/>
            <a:ext cx="9637814" cy="3321996"/>
            <a:chOff x="0" y="0"/>
            <a:chExt cx="12850419" cy="4429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50368" cy="4429252"/>
            </a:xfrm>
            <a:custGeom>
              <a:avLst/>
              <a:gdLst/>
              <a:ahLst/>
              <a:cxnLst/>
              <a:rect r="r" b="b" t="t" l="l"/>
              <a:pathLst>
                <a:path h="4429252" w="12850368">
                  <a:moveTo>
                    <a:pt x="0" y="51181"/>
                  </a:moveTo>
                  <a:cubicBezTo>
                    <a:pt x="0" y="22987"/>
                    <a:pt x="22987" y="0"/>
                    <a:pt x="51181" y="0"/>
                  </a:cubicBezTo>
                  <a:lnTo>
                    <a:pt x="12799187" y="0"/>
                  </a:lnTo>
                  <a:cubicBezTo>
                    <a:pt x="12827508" y="0"/>
                    <a:pt x="12850368" y="22987"/>
                    <a:pt x="12850368" y="51181"/>
                  </a:cubicBezTo>
                  <a:lnTo>
                    <a:pt x="12850368" y="4378071"/>
                  </a:lnTo>
                  <a:cubicBezTo>
                    <a:pt x="12850368" y="4406392"/>
                    <a:pt x="12827381" y="4429252"/>
                    <a:pt x="12799187" y="4429252"/>
                  </a:cubicBezTo>
                  <a:lnTo>
                    <a:pt x="51181" y="4429252"/>
                  </a:lnTo>
                  <a:cubicBezTo>
                    <a:pt x="22860" y="4429252"/>
                    <a:pt x="0" y="4406265"/>
                    <a:pt x="0" y="4378071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52077" y="6247505"/>
            <a:ext cx="3315443" cy="47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4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Next Goals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2077" y="6738490"/>
            <a:ext cx="9125845" cy="239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Deep learning neural network integration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Research paper drafting for publication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Partial deployment on cloud infrastructure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Performance testing and analysis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Strengthen codebase for production use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63101"/>
            <a:ext cx="7088238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sz="5562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References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868511"/>
            <a:ext cx="637880" cy="637880"/>
            <a:chOff x="0" y="0"/>
            <a:chExt cx="850506" cy="8505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13630" y="2889647"/>
            <a:ext cx="3860597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Flask Documentation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3630" y="3426466"/>
            <a:ext cx="7053110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Flask documentation for web application framework and Flask-API extension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21108" y="2868511"/>
            <a:ext cx="637880" cy="637880"/>
            <a:chOff x="0" y="0"/>
            <a:chExt cx="850506" cy="8505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42499" y="2889647"/>
            <a:ext cx="5312864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python-chess Documentation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42499" y="3426466"/>
            <a:ext cx="7053262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python-chess library documentation for move generation and game state management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5053165"/>
            <a:ext cx="637880" cy="637880"/>
            <a:chOff x="0" y="0"/>
            <a:chExt cx="850506" cy="8505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913630" y="5074291"/>
            <a:ext cx="413519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Lichess Open Database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3630" y="5611120"/>
            <a:ext cx="7053110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Lichess database for game data and chess positions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21108" y="5053165"/>
            <a:ext cx="637880" cy="637880"/>
            <a:chOff x="0" y="0"/>
            <a:chExt cx="850506" cy="8505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42499" y="5074291"/>
            <a:ext cx="354404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Research Papers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42499" y="5611120"/>
            <a:ext cx="7053262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Research papers on Minimax algorithms, Alpha-Beta pruning, and deep learning approaches for chess 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7473401"/>
            <a:ext cx="354404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Acknowledgements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8265319"/>
            <a:ext cx="16303523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Special thanks to my guide and department for their support and guidance throughout this project.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927700"/>
            <a:ext cx="7886700" cy="1988344"/>
            <a:chOff x="0" y="0"/>
            <a:chExt cx="105156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56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6" r="0" b="-272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05156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DAHBml1UCnE</dc:identifier>
  <dcterms:modified xsi:type="dcterms:W3CDTF">2011-08-01T06:04:30Z</dcterms:modified>
  <cp:revision>1</cp:revision>
  <dc:title>merged_presentation_choladeck.pptx</dc:title>
</cp:coreProperties>
</file>